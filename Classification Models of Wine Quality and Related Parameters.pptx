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9"/>
    <p:restoredTop sz="94621"/>
  </p:normalViewPr>
  <p:slideViewPr>
    <p:cSldViewPr snapToGrid="0">
      <p:cViewPr varScale="1">
        <p:scale>
          <a:sx n="108" d="100"/>
          <a:sy n="108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3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3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1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8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18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76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3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3" descr="三角形抽象背景">
            <a:extLst>
              <a:ext uri="{FF2B5EF4-FFF2-40B4-BE49-F238E27FC236}">
                <a16:creationId xmlns:a16="http://schemas.microsoft.com/office/drawing/2014/main" id="{EEDBFFDF-CDB5-6F77-955D-FE803F9E49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0" y="320630"/>
            <a:ext cx="12192001" cy="685800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CFCF62-F3BE-53A4-9051-4ABE55234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8887387" cy="2450592"/>
          </a:xfrm>
        </p:spPr>
        <p:txBody>
          <a:bodyPr anchor="t">
            <a:normAutofit fontScale="90000"/>
          </a:bodyPr>
          <a:lstStyle/>
          <a:p>
            <a:r>
              <a:rPr kumimoji="1" lang="en-GB" altLang="zh-CN" sz="6000" dirty="0">
                <a:solidFill>
                  <a:srgbClr val="FFFFFF"/>
                </a:solidFill>
              </a:rPr>
              <a:t>Classification Models of Wine Quality and Related Parameters</a:t>
            </a:r>
            <a:br>
              <a:rPr kumimoji="1" lang="en-GB" altLang="zh-CN" sz="6000" dirty="0">
                <a:solidFill>
                  <a:srgbClr val="FFFFFF"/>
                </a:solidFill>
              </a:rPr>
            </a:br>
            <a:endParaRPr kumimoji="1" lang="zh-CN" altLang="en-US" sz="6000" dirty="0">
              <a:solidFill>
                <a:srgbClr val="FFFFFF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4A6A97-F0D4-B1E9-FB71-DB8CE751E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kumimoji="1" lang="en-US" altLang="zh-CN" sz="2400" dirty="0">
                <a:solidFill>
                  <a:srgbClr val="FFFFFF"/>
                </a:solidFill>
              </a:rPr>
              <a:t>Siyuan</a:t>
            </a:r>
            <a:r>
              <a:rPr kumimoji="1" lang="zh-CN" altLang="en-US" sz="2400" dirty="0">
                <a:solidFill>
                  <a:srgbClr val="FFFFFF"/>
                </a:solidFill>
              </a:rPr>
              <a:t> </a:t>
            </a:r>
            <a:r>
              <a:rPr kumimoji="1" lang="en-US" altLang="zh-CN" sz="2400" dirty="0">
                <a:solidFill>
                  <a:srgbClr val="FFFFFF"/>
                </a:solidFill>
              </a:rPr>
              <a:t>Zhang</a:t>
            </a:r>
            <a:r>
              <a:rPr kumimoji="1" lang="zh-CN" altLang="en-US" sz="2400" dirty="0">
                <a:solidFill>
                  <a:srgbClr val="FFFFFF"/>
                </a:solidFill>
              </a:rPr>
              <a:t> </a:t>
            </a:r>
            <a:r>
              <a:rPr kumimoji="1" lang="en-US" altLang="zh-CN" sz="2400" dirty="0">
                <a:solidFill>
                  <a:srgbClr val="FFFFFF"/>
                </a:solidFill>
              </a:rPr>
              <a:t>sz264</a:t>
            </a:r>
            <a:endParaRPr kumimoji="1"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5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65106-361C-8092-D762-AE8C4E5C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12519"/>
            <a:ext cx="11155680" cy="807523"/>
          </a:xfrm>
        </p:spPr>
        <p:txBody>
          <a:bodyPr/>
          <a:lstStyle/>
          <a:p>
            <a:r>
              <a:rPr kumimoji="1" lang="en-GB" altLang="zh-CN" sz="2000" dirty="0"/>
              <a:t>Data Overview &amp; Variable Distribution </a:t>
            </a:r>
            <a:br>
              <a:rPr kumimoji="1" lang="en-GB" altLang="zh-CN" sz="2000" dirty="0"/>
            </a:br>
            <a:r>
              <a:rPr kumimoji="1" lang="en-GB" altLang="zh-CN" sz="2000" dirty="0"/>
              <a:t>(EDA &amp; Variable Exploration)</a:t>
            </a:r>
            <a:endParaRPr kumimoji="1" lang="zh-CN" altLang="en-US" sz="2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1D0C0-77A3-1496-34A0-DCE26C9BB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20042"/>
            <a:ext cx="11155680" cy="482589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200" dirty="0"/>
              <a:t>Dataset essentials</a:t>
            </a:r>
            <a:endParaRPr lang="zh-CN" altLang="zh-CN" sz="1200" dirty="0"/>
          </a:p>
          <a:p>
            <a:pPr marL="0" indent="0">
              <a:buNone/>
            </a:pPr>
            <a:r>
              <a:rPr lang="en-US" altLang="zh-CN" sz="1200" dirty="0"/>
              <a:t>Dataset: red wine quality, 1,599 observations, zero missing values.</a:t>
            </a:r>
            <a:endParaRPr lang="zh-CN" altLang="zh-CN" sz="1200" dirty="0"/>
          </a:p>
          <a:p>
            <a:pPr marL="0" indent="0">
              <a:buNone/>
            </a:pPr>
            <a:r>
              <a:rPr lang="en-US" altLang="zh-CN" sz="1200" dirty="0"/>
              <a:t>Target: wine-quality score (integer, 3–8; 70–80 % of samples cluster at 5–7).</a:t>
            </a:r>
            <a:endParaRPr lang="zh-CN" altLang="zh-CN" sz="1200" dirty="0"/>
          </a:p>
          <a:p>
            <a:pPr marL="0" indent="0">
              <a:buNone/>
            </a:pPr>
            <a:r>
              <a:rPr lang="en-US" altLang="zh-CN" sz="1200" dirty="0"/>
              <a:t>Features: 11 chemical indicators—alcohol, volatile acidity, fixed acidity, citric acid, residual sugar, chlorides, free SO₂, total SO₂, density, pH, sulphates.</a:t>
            </a:r>
            <a:endParaRPr lang="zh-CN" altLang="zh-CN" sz="1200" dirty="0"/>
          </a:p>
          <a:p>
            <a:endParaRPr kumimoji="1"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Target distribution</a:t>
            </a:r>
            <a:endParaRPr lang="zh-CN" altLang="zh-CN" sz="1200" dirty="0"/>
          </a:p>
          <a:p>
            <a:pPr marL="0" indent="0">
              <a:buNone/>
            </a:pPr>
            <a:r>
              <a:rPr lang="en-US" altLang="zh-CN" sz="1200" dirty="0"/>
              <a:t>Scores 5–7 dominate (bar-plot &amp; box-plot).</a:t>
            </a:r>
            <a:endParaRPr lang="zh-CN" altLang="zh-CN" sz="1200" dirty="0"/>
          </a:p>
          <a:p>
            <a:pPr marL="0" indent="0">
              <a:buNone/>
            </a:pPr>
            <a:r>
              <a:rPr lang="en-US" altLang="zh-CN" sz="1200" dirty="0"/>
              <a:t> Discrete integer scale; median / mode ≈ 5–6.</a:t>
            </a:r>
          </a:p>
          <a:p>
            <a:pPr marL="0" indent="0">
              <a:buNone/>
            </a:pPr>
            <a:endParaRPr lang="zh-CN" altLang="zh-CN" sz="1200" dirty="0"/>
          </a:p>
          <a:p>
            <a:pPr marL="0" indent="0">
              <a:buNone/>
            </a:pPr>
            <a:r>
              <a:rPr kumimoji="1" lang="en-GB" altLang="zh-CN" sz="1400" b="1" dirty="0"/>
              <a:t>EDA confirms a clean, complete dataset with a clustered quality distribution. Chemical attributes—especially alcohol, acid families (volatile &amp; fixed), and sulphates—are the most quality-informative inputs for downstream modelling</a:t>
            </a:r>
            <a:r>
              <a:rPr kumimoji="1" lang="en-GB" altLang="zh-CN" b="1" dirty="0"/>
              <a:t>.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54728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67F73-0301-B693-A002-9864A996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0021"/>
            <a:ext cx="11155680" cy="688769"/>
          </a:xfrm>
        </p:spPr>
        <p:txBody>
          <a:bodyPr/>
          <a:lstStyle/>
          <a:p>
            <a:r>
              <a:rPr lang="en-US" altLang="zh-CN" sz="2400" dirty="0"/>
              <a:t>GLM Analysis</a:t>
            </a:r>
            <a:r>
              <a:rPr lang="zh-CN" altLang="zh-CN" sz="2400" dirty="0"/>
              <a:t> 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D23D7-19DA-7003-B92D-AC876CFD4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48790"/>
            <a:ext cx="11155680" cy="4897146"/>
          </a:xfrm>
        </p:spPr>
        <p:txBody>
          <a:bodyPr/>
          <a:lstStyle/>
          <a:p>
            <a:pPr marL="0" indent="0">
              <a:buNone/>
            </a:pPr>
            <a:r>
              <a:rPr kumimoji="1" lang="en-GB" altLang="zh-CN" sz="1400" dirty="0"/>
              <a:t>Wine quality is discrete (3–8) but narrow and heavily concentrated at 5–7, behaving “quasi-continuous”; a Gaussian GLM with identity link is an appropriate first-pass model</a:t>
            </a:r>
            <a:r>
              <a:rPr kumimoji="1" lang="en-GB" altLang="zh-CN" dirty="0"/>
              <a:t>.</a:t>
            </a:r>
          </a:p>
          <a:p>
            <a:pPr marL="0" indent="0">
              <a:buNone/>
            </a:pPr>
            <a:r>
              <a:rPr kumimoji="1" lang="en-GB" altLang="zh-CN" sz="1100" dirty="0"/>
              <a:t>Diagnostics</a:t>
            </a:r>
          </a:p>
          <a:p>
            <a:pPr marL="0" indent="0">
              <a:buNone/>
            </a:pPr>
            <a:r>
              <a:rPr kumimoji="1" lang="en-GB" altLang="zh-CN" sz="1100" dirty="0"/>
              <a:t>Residuals deviate from normality (Shapiro p &lt; 0.01) and show mild heteroskedasticity (fan-shaped residual-vs-fitted).</a:t>
            </a:r>
          </a:p>
          <a:p>
            <a:pPr marL="0" indent="0">
              <a:buNone/>
            </a:pPr>
            <a:r>
              <a:rPr kumimoji="1" lang="en-GB" altLang="zh-CN" sz="1100" dirty="0"/>
              <a:t> Nevertheless, R² ≈ 0.36 and significant coefficients yield high explanatory power.</a:t>
            </a:r>
          </a:p>
          <a:p>
            <a:pPr marL="0" indent="0">
              <a:buNone/>
            </a:pPr>
            <a:endParaRPr kumimoji="1" lang="en-GB" altLang="zh-CN" sz="1100" dirty="0"/>
          </a:p>
          <a:p>
            <a:pPr marL="0" indent="0">
              <a:buNone/>
            </a:pPr>
            <a:r>
              <a:rPr kumimoji="1" lang="en-GB" altLang="zh-CN" sz="1100" dirty="0"/>
              <a:t>Suggested figures</a:t>
            </a:r>
          </a:p>
          <a:p>
            <a:pPr marL="0" indent="0">
              <a:buNone/>
            </a:pPr>
            <a:r>
              <a:rPr kumimoji="1" lang="en-GB" altLang="zh-CN" sz="1100" dirty="0"/>
              <a:t>Bar chart of standardized GLM coefficients (color-coded by sign &amp; significance)</a:t>
            </a:r>
          </a:p>
          <a:p>
            <a:pPr marL="0" indent="0">
              <a:buNone/>
            </a:pPr>
            <a:r>
              <a:rPr kumimoji="1" lang="en-GB" altLang="zh-CN" sz="1100" dirty="0"/>
              <a:t>Residual Q-Q plot &amp; residual-vs-fitted plot</a:t>
            </a:r>
          </a:p>
          <a:p>
            <a:pPr marL="0" indent="0">
              <a:buNone/>
            </a:pPr>
            <a:endParaRPr kumimoji="1" lang="en-GB" altLang="zh-CN" sz="1100" dirty="0"/>
          </a:p>
          <a:p>
            <a:pPr marL="0" indent="0">
              <a:buNone/>
            </a:pPr>
            <a:r>
              <a:rPr kumimoji="1" lang="en-GB" altLang="zh-CN" sz="1600" b="1" dirty="0"/>
              <a:t>GLM delivers an interpretable linear map from chemistry to quality; alcohol, sulphates and fixed acidity are the most influential levers for winemaking adjustments.</a:t>
            </a:r>
            <a:endParaRPr kumimoji="1"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3330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B4FD2-F200-B0F8-6AA1-C5B26BA1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777" y="783771"/>
            <a:ext cx="11155680" cy="771897"/>
          </a:xfrm>
        </p:spPr>
        <p:txBody>
          <a:bodyPr/>
          <a:lstStyle/>
          <a:p>
            <a:r>
              <a:rPr lang="en-GB" altLang="zh-CN" sz="2400" dirty="0"/>
              <a:t>Deep-Learning Model 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3EBA5-0CAC-DAD4-9251-9B8DDC193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55668"/>
            <a:ext cx="11155680" cy="4790268"/>
          </a:xfrm>
        </p:spPr>
        <p:txBody>
          <a:bodyPr/>
          <a:lstStyle/>
          <a:p>
            <a:pPr marL="0" indent="0">
              <a:buNone/>
            </a:pPr>
            <a:r>
              <a:rPr kumimoji="1" lang="en-GB" altLang="zh-CN" sz="1400" dirty="0"/>
              <a:t>Wine quality is driven by the joint, non-linear action of many chemical variables; linear models leave interaction effects on the table.</a:t>
            </a:r>
          </a:p>
          <a:p>
            <a:pPr marL="0" indent="0">
              <a:buNone/>
            </a:pPr>
            <a:r>
              <a:rPr kumimoji="1" lang="en-GB" altLang="zh-CN" sz="1400" dirty="0"/>
              <a:t>Feed-forward neural networks are universal approximators: they map numeric inputs to (quasi)continuous targets without assuming additivity or monotonicity.</a:t>
            </a:r>
          </a:p>
          <a:p>
            <a:pPr marL="0" indent="0">
              <a:buNone/>
            </a:pPr>
            <a:endParaRPr kumimoji="1" lang="en-GB" altLang="zh-CN" sz="1400" dirty="0"/>
          </a:p>
          <a:p>
            <a:pPr marL="0" indent="0">
              <a:buNone/>
            </a:pPr>
            <a:r>
              <a:rPr kumimoji="1" lang="en-GB" altLang="zh-CN" sz="1400" dirty="0"/>
              <a:t>The network automatically learns high-order interactions and non-linear mappings, giving superior fit when multi-dimensional features exhibit complex, opaque relationships to the target.</a:t>
            </a:r>
          </a:p>
          <a:p>
            <a:endParaRPr kumimoji="1" lang="en-GB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43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7DC14-C373-163B-5C13-5BDF8B09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0022"/>
            <a:ext cx="11155680" cy="629392"/>
          </a:xfrm>
        </p:spPr>
        <p:txBody>
          <a:bodyPr/>
          <a:lstStyle/>
          <a:p>
            <a:r>
              <a:rPr lang="en-US" altLang="zh-CN" sz="2400" dirty="0"/>
              <a:t>Random-Forest Model</a:t>
            </a:r>
            <a:br>
              <a:rPr lang="zh-CN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DFF4A-0A27-2763-9657-1A65D1DD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389414"/>
            <a:ext cx="11155680" cy="4956522"/>
          </a:xfrm>
        </p:spPr>
        <p:txBody>
          <a:bodyPr/>
          <a:lstStyle/>
          <a:p>
            <a:pPr marL="0" indent="0">
              <a:buNone/>
            </a:pPr>
            <a:r>
              <a:rPr kumimoji="1" lang="en-GB" altLang="zh-CN" sz="1400" b="1" dirty="0"/>
              <a:t>Ensemble of decision trees</a:t>
            </a:r>
            <a:r>
              <a:rPr kumimoji="1" lang="zh-CN" altLang="en-US" sz="1400" b="1" dirty="0"/>
              <a:t> </a:t>
            </a:r>
            <a:r>
              <a:rPr kumimoji="1" lang="en-GB" altLang="zh-CN" sz="1400" b="1" dirty="0"/>
              <a:t>: handles high-dimensional, non-linear, interacting predictors with minimal tuning.</a:t>
            </a:r>
          </a:p>
          <a:p>
            <a:pPr marL="0" indent="0">
              <a:buNone/>
            </a:pPr>
            <a:r>
              <a:rPr kumimoji="1" lang="en-GB" altLang="zh-CN" sz="1400" b="1" dirty="0"/>
              <a:t>Outlier-resistant, distribution-free, and delivers an internal feature-importance score—ideal for identifying which chemical traits drive wine quality.</a:t>
            </a:r>
          </a:p>
          <a:p>
            <a:pPr marL="0" indent="0">
              <a:buNone/>
            </a:pPr>
            <a:r>
              <a:rPr kumimoji="1" lang="en-GB" altLang="zh-CN" sz="1400" b="1" dirty="0"/>
              <a:t>Target can be treated as multi-class classification (quality cast to factor) or as regression (original integer scal</a:t>
            </a:r>
            <a:r>
              <a:rPr kumimoji="1" lang="en-GB" altLang="zh-CN" sz="1400" dirty="0"/>
              <a:t>e)</a:t>
            </a:r>
          </a:p>
          <a:p>
            <a:pPr marL="0" indent="0">
              <a:buNone/>
            </a:pPr>
            <a:endParaRPr kumimoji="1" lang="en-GB" altLang="zh-CN" sz="1100" dirty="0"/>
          </a:p>
          <a:p>
            <a:pPr marL="0" indent="0">
              <a:buNone/>
            </a:pPr>
            <a:r>
              <a:rPr kumimoji="1" lang="en-GB" altLang="zh-CN" sz="1100" dirty="0"/>
              <a:t>Evaluation:</a:t>
            </a:r>
          </a:p>
          <a:p>
            <a:pPr marL="0" indent="0">
              <a:buNone/>
            </a:pPr>
            <a:r>
              <a:rPr kumimoji="1" lang="en-GB" altLang="zh-CN" sz="1100" dirty="0"/>
              <a:t>Classification: confusion matrix + accuracy</a:t>
            </a:r>
          </a:p>
          <a:p>
            <a:pPr marL="0" indent="0">
              <a:buNone/>
            </a:pPr>
            <a:r>
              <a:rPr kumimoji="1" lang="en-GB" altLang="zh-CN" sz="1100" dirty="0"/>
              <a:t>Regression: MSE / MAE / R²</a:t>
            </a:r>
          </a:p>
          <a:p>
            <a:pPr marL="0" indent="0">
              <a:buNone/>
            </a:pPr>
            <a:r>
              <a:rPr kumimoji="1" lang="en-GB" altLang="zh-CN" sz="1100" dirty="0"/>
              <a:t>Variable importance: Mean Decrease Accuracy (or Gini)</a:t>
            </a:r>
            <a:endParaRPr kumimoji="1" lang="en-GB" altLang="zh-CN" sz="1800" b="1" dirty="0"/>
          </a:p>
          <a:p>
            <a:pPr marL="0" indent="0">
              <a:buNone/>
            </a:pPr>
            <a:endParaRPr kumimoji="1" lang="en-GB" altLang="zh-CN" sz="1400" b="1" dirty="0"/>
          </a:p>
          <a:p>
            <a:pPr marL="0" indent="0">
              <a:buNone/>
            </a:pPr>
            <a:r>
              <a:rPr kumimoji="1" lang="en-GB" altLang="zh-CN" sz="1400" b="1" dirty="0"/>
              <a:t>The main reason I chose the Random Forest model is its strong resistance to over-fitting, which offers a good balance between interpretability and predictive power—perfect for small- to medium-sized datasets. My dataset contains about 1,500 observations, fitting that exact scale.</a:t>
            </a:r>
          </a:p>
          <a:p>
            <a:endParaRPr kumimoji="1" lang="en-GB" altLang="zh-CN" sz="2400" b="1" dirty="0"/>
          </a:p>
          <a:p>
            <a:endParaRPr kumimoji="1" lang="en-GB" altLang="zh-CN" dirty="0"/>
          </a:p>
          <a:p>
            <a:endParaRPr kumimoji="1" lang="en-GB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047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B0652-5ED8-5155-375E-3D20F689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0022"/>
            <a:ext cx="11155680" cy="843148"/>
          </a:xfrm>
        </p:spPr>
        <p:txBody>
          <a:bodyPr/>
          <a:lstStyle/>
          <a:p>
            <a:r>
              <a:rPr lang="en-US" altLang="zh-CN" sz="2400" dirty="0"/>
              <a:t>Core Drivers of Wine Quality</a:t>
            </a:r>
            <a:r>
              <a:rPr lang="zh-CN" altLang="zh-CN" sz="2400" dirty="0"/>
              <a:t> 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20CA2-F1C2-5D7E-23AE-5A14E2F6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330036"/>
            <a:ext cx="11155680" cy="5015900"/>
          </a:xfrm>
        </p:spPr>
        <p:txBody>
          <a:bodyPr/>
          <a:lstStyle/>
          <a:p>
            <a:pPr marL="0" indent="0">
              <a:buNone/>
            </a:pPr>
            <a:r>
              <a:rPr kumimoji="1" lang="en-GB" altLang="zh-CN" sz="1600" b="1" dirty="0"/>
              <a:t>Wine-quality scores (3–8, mostly 5–7) are shaped by a handful of chemical traits that show consistent positive or negative associations across modelling approaches</a:t>
            </a:r>
            <a:r>
              <a:rPr kumimoji="1" lang="en-GB" altLang="zh-CN" sz="1600" dirty="0"/>
              <a:t>.</a:t>
            </a:r>
          </a:p>
          <a:p>
            <a:pPr marL="0" indent="0">
              <a:buNone/>
            </a:pPr>
            <a:endParaRPr kumimoji="1" lang="en-GB" altLang="zh-CN" sz="1200" dirty="0"/>
          </a:p>
          <a:p>
            <a:pPr marL="0" indent="0">
              <a:buNone/>
            </a:pPr>
            <a:r>
              <a:rPr kumimoji="1" lang="en-GB" altLang="zh-CN" sz="1200" dirty="0"/>
              <a:t>Model suitability at a glance</a:t>
            </a:r>
          </a:p>
          <a:p>
            <a:pPr marL="0" indent="0">
              <a:buNone/>
            </a:pPr>
            <a:r>
              <a:rPr kumimoji="1" lang="en-GB" altLang="zh-CN" sz="1200" dirty="0"/>
              <a:t>GLM: transparent coefficients, best when effects are roughly linear (alcohol, acids).</a:t>
            </a:r>
          </a:p>
          <a:p>
            <a:pPr marL="0" indent="0">
              <a:buNone/>
            </a:pPr>
            <a:r>
              <a:rPr kumimoji="1" lang="en-GB" altLang="zh-CN" sz="1200" dirty="0"/>
              <a:t>Deep</a:t>
            </a:r>
            <a:r>
              <a:rPr kumimoji="1" lang="zh-CN" altLang="en-US" sz="1200" dirty="0"/>
              <a:t> </a:t>
            </a:r>
            <a:r>
              <a:rPr kumimoji="1" lang="en-GB" altLang="zh-CN" sz="1200" dirty="0"/>
              <a:t>Learning: captures complex interactions automatically; use when raw accuracy matters more than explanation.</a:t>
            </a:r>
          </a:p>
          <a:p>
            <a:pPr marL="0" indent="0">
              <a:buNone/>
            </a:pPr>
            <a:r>
              <a:rPr kumimoji="1" lang="en-GB" altLang="zh-CN" sz="1200" dirty="0"/>
              <a:t>Random forest: resists over-fitting, delivers clear importance ranking; good all-rounder for both prediction and insight.</a:t>
            </a:r>
          </a:p>
          <a:p>
            <a:pPr marL="0" indent="0">
              <a:buNone/>
            </a:pPr>
            <a:endParaRPr kumimoji="1" lang="en-GB" altLang="zh-CN" sz="1600" dirty="0"/>
          </a:p>
          <a:p>
            <a:pPr marL="0" indent="0">
              <a:buNone/>
            </a:pPr>
            <a:r>
              <a:rPr kumimoji="1" lang="en-GB" altLang="zh-CN" sz="1200" dirty="0"/>
              <a:t>Need interpretability → start with GLM or RandomForest variable-importance plot.</a:t>
            </a:r>
          </a:p>
          <a:p>
            <a:pPr marL="0" indent="0">
              <a:buNone/>
            </a:pPr>
            <a:r>
              <a:rPr kumimoji="1" lang="en-GB" altLang="zh-CN" sz="1200" dirty="0"/>
              <a:t>Need maximum accuracy on large data → consider deep Learning.</a:t>
            </a:r>
          </a:p>
          <a:p>
            <a:pPr marL="0" indent="0">
              <a:buNone/>
            </a:pPr>
            <a:endParaRPr kumimoji="1" lang="en-GB" altLang="zh-CN" sz="1200" dirty="0"/>
          </a:p>
          <a:p>
            <a:pPr marL="0" indent="0">
              <a:buNone/>
            </a:pPr>
            <a:r>
              <a:rPr kumimoji="1" lang="en-GB" altLang="zh-CN" sz="1200" dirty="0"/>
              <a:t>Across all methods, alcohol, sulphates and volatile acidity emerge as the “big-three” levers for quality control.</a:t>
            </a:r>
          </a:p>
          <a:p>
            <a:pPr marL="0" indent="0">
              <a:buNone/>
            </a:pPr>
            <a:endParaRPr kumimoji="1" lang="en-GB" altLang="zh-CN" sz="1600" dirty="0"/>
          </a:p>
          <a:p>
            <a:pPr marL="0" indent="0">
              <a:buNone/>
            </a:pPr>
            <a:endParaRPr kumimoji="1" lang="en-GB" altLang="zh-CN" sz="1600" dirty="0"/>
          </a:p>
          <a:p>
            <a:pPr marL="0" indent="0">
              <a:buNone/>
            </a:pPr>
            <a:endParaRPr kumimoji="1" lang="en-GB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93697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22A8E-83EE-2859-A990-99B382C0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873829"/>
            <a:ext cx="11155680" cy="1579417"/>
          </a:xfrm>
        </p:spPr>
        <p:txBody>
          <a:bodyPr/>
          <a:lstStyle/>
          <a:p>
            <a:pPr algn="ctr"/>
            <a:r>
              <a:rPr kumimoji="1" lang="en-GB" altLang="zh-CN" dirty="0"/>
              <a:t>THANK YOU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750569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604</Words>
  <Application>Microsoft Macintosh PowerPoint</Application>
  <PresentationFormat>宽屏</PresentationFormat>
  <Paragraphs>56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GestaltVTI</vt:lpstr>
      <vt:lpstr>Classification Models of Wine Quality and Related Parameters </vt:lpstr>
      <vt:lpstr>Data Overview &amp; Variable Distribution  (EDA &amp; Variable Exploration)</vt:lpstr>
      <vt:lpstr>GLM Analysis </vt:lpstr>
      <vt:lpstr>Deep-Learning Model </vt:lpstr>
      <vt:lpstr>Random-Forest Model </vt:lpstr>
      <vt:lpstr>Core Drivers of Wine Quality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Siyuan Zhang</dc:creator>
  <cp:lastModifiedBy>Siyuan Zhang</cp:lastModifiedBy>
  <cp:revision>2</cp:revision>
  <dcterms:created xsi:type="dcterms:W3CDTF">2025-12-19T10:44:07Z</dcterms:created>
  <dcterms:modified xsi:type="dcterms:W3CDTF">2025-12-19T11:40:45Z</dcterms:modified>
</cp:coreProperties>
</file>